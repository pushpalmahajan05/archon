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97680" y="850392"/>
            <a:ext cx="96926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0" b="1" i="0">
                <a:solidFill>
                  <a:srgbClr val="F5F9FD"/>
                </a:solidFill>
                <a:latin typeface="Arial Rounded MT Bold"/>
              </a:rPr>
              <a:t>ARCHON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0" y="2029968"/>
            <a:ext cx="10149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E3DD"/>
                </a:solidFill>
                <a:latin typeface="Arial Rounded MT Bold"/>
              </a:rPr>
              <a:t>ARCHITECTURE REASONING  •  CODE IMPACT  •  HISTORY  •  OPTIMIZATION  • 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86207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C5FF"/>
                </a:solidFill>
                <a:latin typeface="Arial Rounded MT Bold"/>
              </a:rPr>
              <a:t>FINAL YEAR PROJECT  |  EVALUATION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0" y="3566160"/>
            <a:ext cx="5486400" cy="0"/>
          </a:xfrm>
          <a:prstGeom prst="line">
            <a:avLst/>
          </a:prstGeom>
          <a:ln w="15875">
            <a:solidFill>
              <a:srgbClr val="00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00600" y="4069080"/>
            <a:ext cx="8686800" cy="2743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5F9FD"/>
                </a:solidFill>
                <a:latin typeface="Arial"/>
              </a:rPr>
              <a:t>BT23CSEO61  –  Anand Kale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5F9FD"/>
                </a:solidFill>
                <a:latin typeface="Arial"/>
              </a:rPr>
              <a:t>BT23CSEO72  –  Pushpal Mahajan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5F9FD"/>
                </a:solidFill>
                <a:latin typeface="Arial"/>
              </a:rPr>
              <a:t>BT23CSEO78  –  Jayesh Patil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5F9FD"/>
                </a:solidFill>
                <a:latin typeface="Arial"/>
              </a:rPr>
              <a:t>BT23CSEO124 –  Salil Phanse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758952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D669"/>
                </a:solidFill>
                <a:latin typeface="Arial Rounded MT Bold"/>
              </a:rPr>
              <a:t>Guided by  Dr. Meera Dhabu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8705088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BE8"/>
                </a:solidFill>
                <a:latin typeface="Arial"/>
              </a:rPr>
              <a:t>VNIT  •  PROGRESS, IMPLEMENTATION &amp;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5F9FD"/>
                </a:solidFill>
                <a:latin typeface="Arial Rounded MT Bold"/>
              </a:rPr>
              <a:t>Evaluation 1 Plan  →  Evaluation 2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The initial ingestion and knowledge-base foundation has grown into an end-to-end analysis prototype.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2148840"/>
            <a:ext cx="4041648" cy="635508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7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441448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46020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51460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91840"/>
            <a:ext cx="349300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C5FF"/>
                </a:solidFill>
                <a:latin typeface="Arial Rounded MT Bold"/>
              </a:rPr>
              <a:t>Repository ingestion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" y="4160520"/>
            <a:ext cx="3493008" cy="0"/>
          </a:xfrm>
          <a:prstGeom prst="line">
            <a:avLst/>
          </a:prstGeom>
          <a:ln w="10160">
            <a:solidFill>
              <a:srgbClr val="12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9264" y="4453128"/>
            <a:ext cx="3419856" cy="3520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Local or remote repository loading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Python AST + JS/TS/Java regex parsing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Dependency, Git history and ADR extraction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Incremental re-indexing via file hashes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28616" y="2148840"/>
            <a:ext cx="4041648" cy="635508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7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84648" y="2441448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446020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4" y="251460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IMPLEMENTED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3291840"/>
            <a:ext cx="349300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C5FF"/>
                </a:solidFill>
                <a:latin typeface="Arial Rounded MT Bold"/>
              </a:rPr>
              <a:t>Dual knowledge base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02936" y="4160520"/>
            <a:ext cx="3493007" cy="0"/>
          </a:xfrm>
          <a:prstGeom prst="line">
            <a:avLst/>
          </a:prstGeom>
          <a:ln w="10160">
            <a:solidFill>
              <a:srgbClr val="12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39512" y="4453128"/>
            <a:ext cx="3419856" cy="3520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Neo4j stores structural entities and links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Qdrant stores semantic evidence chunks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384-dimensional MiniLM embeddings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Repository/type filters for 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4" y="2148840"/>
            <a:ext cx="4041648" cy="635508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7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54896" y="2441448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896" y="2446020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251460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IMPLEMENTED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3291840"/>
            <a:ext cx="349300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C5FF"/>
                </a:solidFill>
                <a:latin typeface="Arial Rounded MT Bold"/>
              </a:rPr>
              <a:t>Six-agent workflow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73184" y="4160520"/>
            <a:ext cx="3493008" cy="0"/>
          </a:xfrm>
          <a:prstGeom prst="line">
            <a:avLst/>
          </a:prstGeom>
          <a:ln w="10160">
            <a:solidFill>
              <a:srgbClr val="12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509760" y="4453128"/>
            <a:ext cx="3419856" cy="3520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LangGraph sequential StateGraph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Shared state carries findings between agents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Repository, architecture, history, impact,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security and synthesis stages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469112" y="2148840"/>
            <a:ext cx="4041648" cy="635508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7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25144" y="2441448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25144" y="2446020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01800" y="251460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IMPLEMENTED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43432" y="3291840"/>
            <a:ext cx="349300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C5FF"/>
                </a:solidFill>
                <a:latin typeface="Arial Rounded MT Bold"/>
              </a:rPr>
              <a:t>API &amp; validation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3743432" y="4160520"/>
            <a:ext cx="3493007" cy="0"/>
          </a:xfrm>
          <a:prstGeom prst="line">
            <a:avLst/>
          </a:prstGeom>
          <a:ln w="10160">
            <a:solidFill>
              <a:srgbClr val="12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780008" y="4453128"/>
            <a:ext cx="3419856" cy="3520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FastAPI endpoints and a served web UI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15 automated tests reported passing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Documented live analysis on Flask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Metrics expose indexing and run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8805672"/>
            <a:ext cx="1673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D669"/>
                </a:solidFill>
                <a:latin typeface="Arial"/>
              </a:rPr>
              <a:t>Scope note: this is a working prototype; the evaluation plan below focuses on measuring knowledge-base quality and reliability.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>
                <a:solidFill>
                  <a:srgbClr val="F5F9FD"/>
                </a:solidFill>
                <a:latin typeface="Arial Rounded MT Bold"/>
              </a:rPr>
              <a:t>Implemented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A stateful analysis pipeline connects repository evidence, specialist agents and a structured decision response.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2057400"/>
            <a:ext cx="3657600" cy="1353312"/>
          </a:xfrm>
          <a:prstGeom prst="roundRect">
            <a:avLst/>
          </a:prstGeom>
          <a:solidFill>
            <a:srgbClr val="051F31"/>
          </a:solidFill>
          <a:ln w="12700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40280"/>
            <a:ext cx="3328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Developer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60904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Natural-language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architectural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2057400"/>
            <a:ext cx="3657600" cy="1353312"/>
          </a:xfrm>
          <a:prstGeom prst="roundRect">
            <a:avLst/>
          </a:prstGeom>
          <a:solidFill>
            <a:srgbClr val="051F31"/>
          </a:solidFill>
          <a:ln w="12700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2240280"/>
            <a:ext cx="3328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FastAPI +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072" y="2660904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/analyze  •  /ingest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/ui  •  /docs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08592" y="2057400"/>
            <a:ext cx="3657600" cy="1353312"/>
          </a:xfrm>
          <a:prstGeom prst="roundRect">
            <a:avLst/>
          </a:prstGeom>
          <a:solidFill>
            <a:srgbClr val="051F31"/>
          </a:solidFill>
          <a:ln w="12700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73184" y="2240280"/>
            <a:ext cx="3328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LangGraph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5752" y="2660904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Stateful orchestration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(shared ArchonState)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606272" y="2057400"/>
            <a:ext cx="3657600" cy="1353312"/>
          </a:xfrm>
          <a:prstGeom prst="roundRect">
            <a:avLst/>
          </a:prstGeom>
          <a:solidFill>
            <a:srgbClr val="051F31"/>
          </a:solidFill>
          <a:ln w="12700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70864" y="2240280"/>
            <a:ext cx="3328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ArchonDecision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43432" y="2660904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Recommendation, impacts,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evidence and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441448"/>
            <a:ext cx="4389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441448"/>
            <a:ext cx="4389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02768" y="2441448"/>
            <a:ext cx="4389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977639"/>
            <a:ext cx="16550640" cy="1417320"/>
          </a:xfrm>
          <a:prstGeom prst="roundRect">
            <a:avLst/>
          </a:prstGeom>
          <a:solidFill>
            <a:srgbClr val="031220"/>
          </a:solidFill>
          <a:ln w="12700">
            <a:solidFill>
              <a:srgbClr val="0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142232"/>
            <a:ext cx="16047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8E3DD"/>
                </a:solidFill>
                <a:latin typeface="Arial Rounded MT Bold"/>
              </a:rPr>
              <a:t>SIX SPECIALISED AGENTS  •  SEQUENTIAL STATE PASSING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62856"/>
            <a:ext cx="16002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9FD"/>
                </a:solidFill>
                <a:latin typeface="Arial"/>
              </a:rPr>
              <a:t>Repository Intelligence  →  Architecture  →  Decision Historian  →  Change Impact  →  Security  →  Synthesizer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144768"/>
            <a:ext cx="5257800" cy="205740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6382512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5FF"/>
                </a:solidFill>
                <a:latin typeface="Arial Rounded MT Bold"/>
              </a:rPr>
              <a:t>Neo4j • Structure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" y="6876288"/>
            <a:ext cx="4690872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Repository graph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files, symbols, dependencies,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services, ADRs and commits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6144768"/>
            <a:ext cx="5257800" cy="205740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6382512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5FF"/>
                </a:solidFill>
                <a:latin typeface="Arial Rounded MT Bold"/>
              </a:rPr>
              <a:t>Qdrant • Semantic KB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5976" y="6876288"/>
            <a:ext cx="4690872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Vector search over code,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readmes/docs, commits and ADRs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with metadata filters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70080" y="6144768"/>
            <a:ext cx="5257800" cy="205740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16967" y="6382512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5FF"/>
                </a:solidFill>
                <a:latin typeface="Arial Rounded MT Bold"/>
              </a:rPr>
              <a:t>Groq + MiniLM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35255" y="6876288"/>
            <a:ext cx="4690872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Groq LLM for structured findings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all-MiniLM-L6-v2 embeddings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(384 dimensions)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8659368"/>
            <a:ext cx="16459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D669"/>
                </a:solidFill>
                <a:latin typeface="Arial Rounded MT Bold"/>
              </a:rPr>
              <a:t>Graph retrieval answers “what is connected?”; vector retrieval answers “what evidence is relevant?”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F5F9FD"/>
                </a:solidFill>
                <a:latin typeface="Arial Rounded MT Bold"/>
              </a:rPr>
              <a:t>Repository Ingestion &amp; Incremental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Deterministic extraction runs before LLM reasoning and creates the evidence used by downstream agents.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2648" y="2157984"/>
            <a:ext cx="3255264" cy="416052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" y="2395728"/>
            <a:ext cx="502920" cy="502920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40030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063240"/>
            <a:ext cx="28163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5FF"/>
                </a:solidFill>
                <a:latin typeface="Arial Rounded MT Bold"/>
              </a:rPr>
              <a:t>Load &amp;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2798064" cy="21488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Accept a local path or remote Git URL.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Scan files, detect languages and skip binaries.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657600"/>
            <a:ext cx="265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157984"/>
            <a:ext cx="3255264" cy="416052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2395728"/>
            <a:ext cx="502920" cy="502920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240030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3063240"/>
            <a:ext cx="28163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5FF"/>
                </a:solidFill>
                <a:latin typeface="Arial Rounded MT Bold"/>
              </a:rPr>
              <a:t>Parse source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40480"/>
            <a:ext cx="2798064" cy="21488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Python: AST parsing.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JavaScript / TypeScript / Java: regex-based extraction.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Capture classes, functions and imports.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3657600"/>
            <a:ext cx="265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25512" y="2157984"/>
            <a:ext cx="3255264" cy="416052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44968" y="2395728"/>
            <a:ext cx="502920" cy="502920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240030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063240"/>
            <a:ext cx="28163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5FF"/>
                </a:solidFill>
                <a:latin typeface="Arial Rounded MT Bold"/>
              </a:rPr>
              <a:t>Extract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840480"/>
            <a:ext cx="2798064" cy="21488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Read dependency manifests and service configs.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Index up to the last 200 commits.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Discover ADR markdown files.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53344" y="3657600"/>
            <a:ext cx="265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81944" y="2157984"/>
            <a:ext cx="3255264" cy="416052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01400" y="2395728"/>
            <a:ext cx="502920" cy="502920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01400" y="240030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3063240"/>
            <a:ext cx="28163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5FF"/>
                </a:solidFill>
                <a:latin typeface="Arial Rounded MT Bold"/>
              </a:rPr>
              <a:t>Chunk &amp; embed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10544" y="3840480"/>
            <a:ext cx="2798064" cy="21488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Code chunks: 400 lines with 50-line overlap.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Generate 384-D MiniLM embeddings for semantic retrieval.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09776" y="3657600"/>
            <a:ext cx="265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438376" y="2157984"/>
            <a:ext cx="3255264" cy="416052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657832" y="2395728"/>
            <a:ext cx="502920" cy="502920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57832" y="240030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57832" y="3063240"/>
            <a:ext cx="28163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5FF"/>
                </a:solidFill>
                <a:latin typeface="Arial Rounded MT Bold"/>
              </a:rPr>
              <a:t>Store both 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66976" y="3840480"/>
            <a:ext cx="2798064" cy="21488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Neo4j: entities and relationships.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Qdrant: evidence chunks and metadata for filtered vector search.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6720840"/>
            <a:ext cx="17053560" cy="2240280"/>
          </a:xfrm>
          <a:prstGeom prst="roundRect">
            <a:avLst/>
          </a:prstGeom>
          <a:solidFill>
            <a:srgbClr val="031220"/>
          </a:solidFill>
          <a:ln w="12700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6967728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C5FF"/>
                </a:solidFill>
                <a:latin typeface="Arial Rounded MT Bold"/>
              </a:rPr>
              <a:t>Incremental re-ingestion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7580375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9FD"/>
                </a:solidFill>
                <a:latin typeface="Arial"/>
              </a:rPr>
              <a:t>A local manifest tracks file hashes, the last indexed commit and indexed ADR IDs.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8065008"/>
            <a:ext cx="1618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Changed/new files are re-parsed; changed-file vectors are replaced; deleted files are removed from the graph; only newer commits are appended.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5F9FD"/>
                </a:solidFill>
                <a:latin typeface="Arial Rounded MT Bold"/>
              </a:rPr>
              <a:t>Two Complementary Knowledge 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ARCHON separates structural relationships from semantically relevant evidence instead of forcing one index to do both.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2084831"/>
            <a:ext cx="8211312" cy="5989320"/>
          </a:xfrm>
          <a:prstGeom prst="roundRect">
            <a:avLst/>
          </a:prstGeom>
          <a:solidFill>
            <a:srgbClr val="041726"/>
          </a:solidFill>
          <a:ln w="14604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50008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0C5FF"/>
                </a:solidFill>
                <a:latin typeface="Arial Rounded MT Bold"/>
              </a:rPr>
              <a:t>NEO4J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23160"/>
            <a:ext cx="4526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8E3DD"/>
                </a:solidFill>
                <a:latin typeface="Arial Rounded MT Bold"/>
              </a:rPr>
              <a:t>STRUCTURE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90088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9FD"/>
                </a:solidFill>
                <a:latin typeface="Arial Rounded MT Bold"/>
              </a:rPr>
              <a:t>“What is connected to what?”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547872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Stores repository structure as a property 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4251960"/>
            <a:ext cx="1600200" cy="429768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27482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Repository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2" y="4251960"/>
            <a:ext cx="1005840" cy="429768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42748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4251960"/>
            <a:ext cx="2103120" cy="429768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7" y="427482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Function / 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4251960"/>
            <a:ext cx="1600200" cy="429768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427482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Dependency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892040"/>
            <a:ext cx="1234440" cy="429768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1490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5728" y="4892040"/>
            <a:ext cx="914400" cy="429768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41448" y="49149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ADR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3008" y="4892040"/>
            <a:ext cx="1188720" cy="429768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7" y="49149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Commit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4892040"/>
            <a:ext cx="1280160" cy="429768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4914900"/>
            <a:ext cx="11887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605272"/>
            <a:ext cx="7269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Relationships: CONTAINS  •  DEFINES  •  IMPORTS  •  DEPENDS_ON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CHANGED_BY  •  DOCUMENTED_BY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6565392"/>
            <a:ext cx="726948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5F9FD"/>
                </a:solidFill>
                <a:latin typeface="Arial"/>
              </a:rPr>
              <a:t>Used for repository summaries, architecture context and multi-hop dependency traversal (up to 4 hops).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5168" y="2084831"/>
            <a:ext cx="8247888" cy="5989320"/>
          </a:xfrm>
          <a:prstGeom prst="roundRect">
            <a:avLst/>
          </a:prstGeom>
          <a:solidFill>
            <a:srgbClr val="041726"/>
          </a:solidFill>
          <a:ln w="14604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352" y="2350008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0C5FF"/>
                </a:solidFill>
                <a:latin typeface="Arial Rounded MT Bold"/>
              </a:rPr>
              <a:t>QDRANT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90120" y="2423160"/>
            <a:ext cx="4617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8E3DD"/>
                </a:solidFill>
                <a:latin typeface="Arial Rounded MT Bold"/>
              </a:rPr>
              <a:t>SEMANTIC KB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29900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9FD"/>
                </a:solidFill>
                <a:latin typeface="Arial Rounded MT Bold"/>
              </a:rPr>
              <a:t>“What evidence is relevant?”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547872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Stores embedded evidence chunks for meaning-based search.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4370832"/>
            <a:ext cx="1874519" cy="731520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74936" y="4425696"/>
            <a:ext cx="180136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9FD"/>
                </a:solidFill>
                <a:latin typeface="Arial"/>
              </a:rPr>
              <a:t>Source chunk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0311" y="4535424"/>
            <a:ext cx="274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914632" y="4370832"/>
            <a:ext cx="2057400" cy="731520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951207" y="4425696"/>
            <a:ext cx="198424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9FD"/>
                </a:solidFill>
                <a:latin typeface="Arial"/>
              </a:rPr>
              <a:t>MiniLM embedding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99463" y="4535424"/>
            <a:ext cx="274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292072" y="4370832"/>
            <a:ext cx="1783080" cy="731520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328648" y="4425696"/>
            <a:ext cx="170992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9FD"/>
                </a:solidFill>
                <a:latin typeface="Arial"/>
              </a:rPr>
              <a:t>Vector 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102584" y="4535424"/>
            <a:ext cx="274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5FF"/>
                </a:solidFill>
                <a:latin typeface="Arial Rounded MT Bold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276320" y="4370832"/>
            <a:ext cx="1078992" cy="731520"/>
          </a:xfrm>
          <a:prstGeom prst="roundRect">
            <a:avLst/>
          </a:prstGeom>
          <a:solidFill>
            <a:srgbClr val="042B42"/>
          </a:solidFill>
          <a:ln w="8890">
            <a:solidFill>
              <a:srgbClr val="007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312896" y="4425696"/>
            <a:ext cx="100583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D"/>
                </a:solidFill>
                <a:latin typeface="Arial"/>
              </a:rPr>
              <a:t>Top-K 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5431536"/>
            <a:ext cx="72694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Sources: code, README/docs, commit messages and ADRs.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BE8"/>
                </a:solidFill>
                <a:latin typeface="Arial"/>
              </a:rPr>
              <a:t>Embedding model: all-MiniLM-L6-v2 • 384 dimensions.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6382512"/>
            <a:ext cx="729691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5F9FD"/>
                </a:solidFill>
                <a:latin typeface="Arial"/>
              </a:rPr>
              <a:t>Search supports repository and evidence-type filters; retrieved snippets are passed into agent prompts with source metadata.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63040" y="8357616"/>
            <a:ext cx="15361920" cy="786384"/>
          </a:xfrm>
          <a:prstGeom prst="roundRect">
            <a:avLst/>
          </a:prstGeom>
          <a:solidFill>
            <a:srgbClr val="031220"/>
          </a:solidFill>
          <a:ln w="11430">
            <a:solidFill>
              <a:srgbClr val="007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37360" y="8485632"/>
            <a:ext cx="1481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D669"/>
                </a:solidFill>
                <a:latin typeface="Arial Rounded MT Bold"/>
              </a:rPr>
              <a:t>Neo4j = structural context     •     Qdrant = semantic context     •     Combined = better-grounded agent reasoning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F5F9FD"/>
                </a:solidFill>
                <a:latin typeface="Arial Rounded MT Bold"/>
              </a:rPr>
              <a:t>The Six-Agent Reasoning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Each agent has a bounded responsibility and returns structured findings to the shared LangGraph state.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2048256"/>
            <a:ext cx="5468112" cy="2944368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04288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8860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29514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Repository Intelligence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962656"/>
            <a:ext cx="4928616" cy="0"/>
          </a:xfrm>
          <a:prstGeom prst="line">
            <a:avLst/>
          </a:prstGeom>
          <a:ln w="10160">
            <a:solidFill>
              <a:srgbClr val="0D5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2688" y="3182112"/>
            <a:ext cx="4892040" cy="1508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Finds modules, classes, functions, APIs, dependencies and configuration from graph + semantic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48256"/>
            <a:ext cx="5468112" cy="2944368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56832" y="2304288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308860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29514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Architecture Reconstruction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56832" y="2962656"/>
            <a:ext cx="4928616" cy="0"/>
          </a:xfrm>
          <a:prstGeom prst="line">
            <a:avLst/>
          </a:prstGeom>
          <a:ln w="10160">
            <a:solidFill>
              <a:srgbClr val="0D5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75120" y="3182112"/>
            <a:ext cx="4892040" cy="1508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Summarises components, layers, data stores, integrations and architecture uncertainties.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43232" y="2048256"/>
            <a:ext cx="5468112" cy="2944368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399263" y="2304288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9263" y="2308860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19" y="229514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Decision Historian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399263" y="2962656"/>
            <a:ext cx="4928617" cy="0"/>
          </a:xfrm>
          <a:prstGeom prst="line">
            <a:avLst/>
          </a:prstGeom>
          <a:ln w="10160">
            <a:solidFill>
              <a:srgbClr val="0D5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417552" y="3182112"/>
            <a:ext cx="4892040" cy="1508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Retrieves ADRs and commits; separates confirmed rationale from inference or unknown history.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32120"/>
            <a:ext cx="5468112" cy="2944368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788152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92724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1056" y="5779008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Change Impact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6446520"/>
            <a:ext cx="4928616" cy="0"/>
          </a:xfrm>
          <a:prstGeom prst="line">
            <a:avLst/>
          </a:prstGeom>
          <a:ln w="10160">
            <a:solidFill>
              <a:srgbClr val="0D5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2688" y="6665976"/>
            <a:ext cx="4892040" cy="1508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Traces direct and indirect impact through dependency relationships; considers APIs, tests, config and deployment.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532120"/>
            <a:ext cx="5468112" cy="2944368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56832" y="5788152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5792724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5779008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Security Analysis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56832" y="6446520"/>
            <a:ext cx="4928616" cy="0"/>
          </a:xfrm>
          <a:prstGeom prst="line">
            <a:avLst/>
          </a:prstGeom>
          <a:ln w="10160">
            <a:solidFill>
              <a:srgbClr val="0D5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75120" y="6665976"/>
            <a:ext cx="4892040" cy="1508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Reviews trust boundaries, data flows, authentication, authorization, secrets and mitigations.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143232" y="5532120"/>
            <a:ext cx="5468112" cy="2944368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399263" y="5788152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99263" y="5792724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75919" y="5779008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9FD"/>
                </a:solidFill>
                <a:latin typeface="Arial Rounded MT Bold"/>
              </a:rPr>
              <a:t>Decision Synthesizer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2399263" y="6446520"/>
            <a:ext cx="4928617" cy="0"/>
          </a:xfrm>
          <a:prstGeom prst="line">
            <a:avLst/>
          </a:prstGeom>
          <a:ln w="10160">
            <a:solidFill>
              <a:srgbClr val="0D5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2417552" y="6665976"/>
            <a:ext cx="4892040" cy="1508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ADBE8"/>
                </a:solidFill>
                <a:latin typeface="Arial"/>
              </a:rPr>
              <a:t>Combines all findings into a recommendation, alternatives, risks, evidence, uncertainties and confidence.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8887968"/>
            <a:ext cx="16642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D669"/>
                </a:solidFill>
                <a:latin typeface="Arial Rounded MT Bold"/>
              </a:rPr>
              <a:t>Execution order:  1 → 2 → 3 → 4 → 5 → 6     |     Agents are sequential today; parallel execution remains future work.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5F9FD"/>
                </a:solidFill>
                <a:latin typeface="Arial Rounded MT Bold"/>
              </a:rPr>
              <a:t>API Surface &amp; Decision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The prototype exposes ingestion and analysis through FastAPI and returns a typed, traceable JSON decision.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2084831"/>
            <a:ext cx="7315200" cy="722376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C5FF"/>
                </a:solidFill>
                <a:latin typeface="Arial Rounded MT Bold"/>
              </a:rPr>
              <a:t>API /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99232"/>
            <a:ext cx="1261872" cy="566928"/>
          </a:xfrm>
          <a:prstGeom prst="roundRect">
            <a:avLst/>
          </a:prstGeom>
          <a:solidFill>
            <a:srgbClr val="04334B"/>
          </a:solidFill>
          <a:ln w="7620">
            <a:solidFill>
              <a:srgbClr val="0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117043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026663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D"/>
                </a:solidFill>
                <a:latin typeface="Arial"/>
              </a:rP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3026663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ADBE8"/>
                </a:solidFill>
                <a:latin typeface="Arial"/>
              </a:rPr>
              <a:t>Model / service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831335"/>
            <a:ext cx="1261872" cy="566928"/>
          </a:xfrm>
          <a:prstGeom prst="roundRect">
            <a:avLst/>
          </a:prstGeom>
          <a:solidFill>
            <a:srgbClr val="04334B"/>
          </a:solidFill>
          <a:ln w="7620">
            <a:solidFill>
              <a:srgbClr val="0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67911"/>
            <a:ext cx="117043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85876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D"/>
                </a:solidFill>
                <a:latin typeface="Arial"/>
              </a:rPr>
              <a:t>/repositories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85876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ADBE8"/>
                </a:solidFill>
                <a:latin typeface="Arial"/>
              </a:rPr>
              <a:t>List indexed repositories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663440"/>
            <a:ext cx="1261872" cy="566928"/>
          </a:xfrm>
          <a:prstGeom prst="roundRect">
            <a:avLst/>
          </a:prstGeom>
          <a:solidFill>
            <a:srgbClr val="04334B"/>
          </a:solidFill>
          <a:ln w="7620">
            <a:solidFill>
              <a:srgbClr val="0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0016"/>
            <a:ext cx="117043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469087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D"/>
                </a:solidFill>
                <a:latin typeface="Arial"/>
              </a:rPr>
              <a:t>/ingest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46908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ADBE8"/>
                </a:solidFill>
                <a:latin typeface="Arial"/>
              </a:rPr>
              <a:t>Start repository ingestion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495544"/>
            <a:ext cx="1261872" cy="566928"/>
          </a:xfrm>
          <a:prstGeom prst="roundRect">
            <a:avLst/>
          </a:prstGeom>
          <a:solidFill>
            <a:srgbClr val="04334B"/>
          </a:solidFill>
          <a:ln w="7620">
            <a:solidFill>
              <a:srgbClr val="0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17043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522976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D"/>
                </a:solidFill>
                <a:latin typeface="Arial"/>
              </a:rPr>
              <a:t>/ingest/{name}/status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552297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ADBE8"/>
                </a:solidFill>
                <a:latin typeface="Arial"/>
              </a:rPr>
              <a:t>Poll ingestion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6327648"/>
            <a:ext cx="1261872" cy="566928"/>
          </a:xfrm>
          <a:prstGeom prst="roundRect">
            <a:avLst/>
          </a:prstGeom>
          <a:solidFill>
            <a:srgbClr val="04334B"/>
          </a:solidFill>
          <a:ln w="7620">
            <a:solidFill>
              <a:srgbClr val="0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6364224"/>
            <a:ext cx="117043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63550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D"/>
                </a:solidFill>
                <a:latin typeface="Arial"/>
              </a:rPr>
              <a:t>/analyze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6355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ADBE8"/>
                </a:solidFill>
                <a:latin typeface="Arial"/>
              </a:rPr>
              <a:t>Run the six-agent pipeline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7159752"/>
            <a:ext cx="1261872" cy="566928"/>
          </a:xfrm>
          <a:prstGeom prst="roundRect">
            <a:avLst/>
          </a:prstGeom>
          <a:solidFill>
            <a:srgbClr val="04334B"/>
          </a:solidFill>
          <a:ln w="7620">
            <a:solidFill>
              <a:srgbClr val="0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7196328"/>
            <a:ext cx="117043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E3DD"/>
                </a:solidFill>
                <a:latin typeface="Arial Rounded MT Bold"/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7187184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D"/>
                </a:solidFill>
                <a:latin typeface="Arial"/>
              </a:rPr>
              <a:t>/ui  •  /docs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718718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ADBE8"/>
                </a:solidFill>
                <a:latin typeface="Arial"/>
              </a:rPr>
              <a:t>Web UI and Swagger API docs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8193024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D669"/>
                </a:solidFill>
                <a:latin typeface="Arial Rounded MT Bold"/>
              </a:rPr>
              <a:t>Interactive documentation: /docs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2084831"/>
            <a:ext cx="9308592" cy="722376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2331720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C5FF"/>
                </a:solidFill>
                <a:latin typeface="Arial Rounded MT Bold"/>
              </a:rPr>
              <a:t>ArchonDecision  →  Structured 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936" y="299008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E3DD"/>
                </a:solidFill>
                <a:latin typeface="Arial Rounded MT Bold"/>
              </a:rPr>
              <a:t>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2990088"/>
            <a:ext cx="5989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Recommendation text and supporting reasoning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31936" y="3529584"/>
            <a:ext cx="8604504" cy="0"/>
          </a:xfrm>
          <a:prstGeom prst="line">
            <a:avLst/>
          </a:prstGeom>
          <a:ln w="6985">
            <a:solidFill>
              <a:srgbClr val="0C4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631936" y="3749039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E3DD"/>
                </a:solidFill>
                <a:latin typeface="Arial Rounded MT Bold"/>
              </a:rPr>
              <a:t>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3749039"/>
            <a:ext cx="5989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Affected components; direct and indirect dependencies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31936" y="4288536"/>
            <a:ext cx="8604504" cy="0"/>
          </a:xfrm>
          <a:prstGeom prst="line">
            <a:avLst/>
          </a:prstGeom>
          <a:ln w="6985">
            <a:solidFill>
              <a:srgbClr val="0C4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31936" y="450799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E3DD"/>
                </a:solidFill>
                <a:latin typeface="Arial Rounded MT Bold"/>
              </a:rPr>
              <a:t>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4507992"/>
            <a:ext cx="5989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Recovered historical context and design rationale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31936" y="5047488"/>
            <a:ext cx="8604504" cy="0"/>
          </a:xfrm>
          <a:prstGeom prst="line">
            <a:avLst/>
          </a:prstGeom>
          <a:ln w="6985">
            <a:solidFill>
              <a:srgbClr val="0C4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31936" y="5266944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E3DD"/>
                </a:solidFill>
                <a:latin typeface="Arial Rounded MT Bold"/>
              </a:rPr>
              <a:t>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5266944"/>
            <a:ext cx="5989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Security implications, risks and mitigations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31936" y="5806440"/>
            <a:ext cx="8604504" cy="0"/>
          </a:xfrm>
          <a:prstGeom prst="line">
            <a:avLst/>
          </a:prstGeom>
          <a:ln w="6985">
            <a:solidFill>
              <a:srgbClr val="0C4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31936" y="602589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E3DD"/>
                </a:solidFill>
                <a:latin typeface="Arial Rounded MT Bold"/>
              </a:rPr>
              <a:t>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025896"/>
            <a:ext cx="5989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Source/type/content, repository, file path and line range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631936" y="6565392"/>
            <a:ext cx="8604504" cy="0"/>
          </a:xfrm>
          <a:prstGeom prst="line">
            <a:avLst/>
          </a:prstGeom>
          <a:ln w="6985">
            <a:solidFill>
              <a:srgbClr val="0C4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631936" y="678484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E3DD"/>
                </a:solidFill>
                <a:latin typeface="Arial Rounded MT Bold"/>
              </a:rPr>
              <a:t>Uncertainty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8520" y="6784848"/>
            <a:ext cx="5989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Explicit uncertainties and confidence score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31936" y="7324344"/>
            <a:ext cx="8604504" cy="0"/>
          </a:xfrm>
          <a:prstGeom prst="line">
            <a:avLst/>
          </a:prstGeom>
          <a:ln w="6985">
            <a:solidFill>
              <a:srgbClr val="0C4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31936" y="7543800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E3DD"/>
                </a:solidFill>
                <a:latin typeface="Arial Rounded MT Bold"/>
              </a:rPr>
              <a:t>Run metadata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7543800"/>
            <a:ext cx="5989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ADBE8"/>
                </a:solidFill>
                <a:latin typeface="Arial"/>
              </a:rPr>
              <a:t>Session ID and processing 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0224" y="8622792"/>
            <a:ext cx="8366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D669"/>
                </a:solidFill>
                <a:latin typeface="Arial"/>
              </a:rPr>
              <a:t>Evidence snippets and raw findings from specialist agents are preserved for traceability.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5F9FD"/>
                </a:solidFill>
                <a:latin typeface="Arial Rounded MT Bold"/>
              </a:rPr>
              <a:t>Current Validation: Reported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Repository documentation records one live end-to-end analysis and a separate mocked automated test suite.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2057400"/>
            <a:ext cx="4096512" cy="132588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31136"/>
            <a:ext cx="382219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C5FF"/>
                </a:solidFill>
                <a:latin typeface="Arial Rounded MT Bold"/>
              </a:rPr>
              <a:t>230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89504"/>
            <a:ext cx="3822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BE8"/>
                </a:solidFill>
                <a:latin typeface="Arial Rounded MT Bold"/>
              </a:rPr>
              <a:t>FILES INDEXED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057400"/>
            <a:ext cx="4096512" cy="132588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231136"/>
            <a:ext cx="382219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C5FF"/>
                </a:solidFill>
                <a:latin typeface="Arial Rounded MT Bold"/>
              </a:rPr>
              <a:t>1,462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889504"/>
            <a:ext cx="3822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BE8"/>
                </a:solidFill>
                <a:latin typeface="Arial Rounded MT Bold"/>
              </a:rPr>
              <a:t>FUNCTIONS PARSED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2057400"/>
            <a:ext cx="4096512" cy="132588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2231136"/>
            <a:ext cx="382219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C5FF"/>
                </a:solidFill>
                <a:latin typeface="Arial Rounded MT Bold"/>
              </a:rPr>
              <a:t>160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4312" y="2889504"/>
            <a:ext cx="3822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BE8"/>
                </a:solidFill>
                <a:latin typeface="Arial Rounded MT Bold"/>
              </a:rPr>
              <a:t>CLASSES PARSED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496544" y="2057400"/>
            <a:ext cx="4096512" cy="132588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633704" y="2231136"/>
            <a:ext cx="382219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C5FF"/>
                </a:solidFill>
                <a:latin typeface="Arial Rounded MT Bold"/>
              </a:rPr>
              <a:t>468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33704" y="2889504"/>
            <a:ext cx="3822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BE8"/>
                </a:solidFill>
                <a:latin typeface="Arial Rounded MT Bold"/>
              </a:rPr>
              <a:t>QDRANT VECTORS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30168"/>
            <a:ext cx="4096512" cy="132588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803904"/>
            <a:ext cx="382219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C5FF"/>
                </a:solidFill>
                <a:latin typeface="Arial Rounded MT Bold"/>
              </a:rPr>
              <a:t>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462272"/>
            <a:ext cx="3822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BE8"/>
                </a:solidFill>
                <a:latin typeface="Arial Rounded MT Bold"/>
              </a:rPr>
              <a:t>COMMITS IN NEO4J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630168"/>
            <a:ext cx="4096512" cy="132588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803904"/>
            <a:ext cx="382219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C5FF"/>
                </a:solidFill>
                <a:latin typeface="Arial Rounded MT Bold"/>
              </a:rPr>
              <a:t>85.79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462272"/>
            <a:ext cx="3822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BE8"/>
                </a:solidFill>
                <a:latin typeface="Arial Rounded MT Bold"/>
              </a:rPr>
              <a:t>ANALYSIS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7152" y="3630168"/>
            <a:ext cx="4096512" cy="132588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2" y="3803904"/>
            <a:ext cx="382219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C5FF"/>
                </a:solidFill>
                <a:latin typeface="Arial Rounded MT Bold"/>
              </a:rPr>
              <a:t>0.60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4462272"/>
            <a:ext cx="3822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BE8"/>
                </a:solidFill>
                <a:latin typeface="Arial Rounded MT Bold"/>
              </a:rPr>
              <a:t>CONFIDENCE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496544" y="3630168"/>
            <a:ext cx="4096512" cy="132588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633704" y="3803904"/>
            <a:ext cx="382219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C5FF"/>
                </a:solidFill>
                <a:latin typeface="Arial Rounded MT Bold"/>
              </a:rPr>
              <a:t>6 /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33704" y="4462272"/>
            <a:ext cx="3822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BE8"/>
                </a:solidFill>
                <a:latin typeface="Arial Rounded MT Bold"/>
              </a:rPr>
              <a:t>AGENTS RAN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40680"/>
            <a:ext cx="5303520" cy="3429000"/>
          </a:xfrm>
          <a:prstGeom prst="roundRect">
            <a:avLst/>
          </a:prstGeom>
          <a:solidFill>
            <a:srgbClr val="031220"/>
          </a:solidFill>
          <a:ln w="12700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6928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5FF"/>
                </a:solidFill>
                <a:latin typeface="Arial Rounded MT Bold"/>
              </a:rPr>
              <a:t>Automated 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272784"/>
            <a:ext cx="4663440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5F9FD"/>
                </a:solidFill>
                <a:latin typeface="Arial"/>
              </a:rPr>
              <a:t>15 passed  •  0.76 seconds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5F9FD"/>
                </a:solidFill>
                <a:latin typeface="Arial"/>
              </a:rPr>
              <a:t>Repository (3)  •  Architecture (2)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5F9FD"/>
                </a:solidFill>
                <a:latin typeface="Arial"/>
              </a:rPr>
              <a:t>History (2)  •  Impact (3)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5F9FD"/>
                </a:solidFill>
                <a:latin typeface="Arial"/>
              </a:rPr>
              <a:t>Security (2)  •  Synthesis (3)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84673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669"/>
                </a:solidFill>
                <a:latin typeface="Arial"/>
              </a:rPr>
              <a:t>Tests use mocked Neo4j, Qdrant and Groq services.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440680"/>
            <a:ext cx="11320272" cy="3429000"/>
          </a:xfrm>
          <a:prstGeom prst="roundRect">
            <a:avLst/>
          </a:prstGeom>
          <a:solidFill>
            <a:srgbClr val="031220"/>
          </a:solidFill>
          <a:ln w="12700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669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5FF"/>
                </a:solidFill>
                <a:latin typeface="Arial Rounded MT Bold"/>
              </a:rPr>
              <a:t>Documented live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6272784"/>
            <a:ext cx="10424160" cy="22402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Repository: pallets/flask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Query: “Replace Jinja2 with Mako”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CADBE8"/>
                </a:solidFill>
                <a:latin typeface="Arial"/>
              </a:rPr>
              <a:t>The README reports indexing 230 files, parsing 1,462 functions and 160 classes, adding 468 vectors and 200 commits, then running all six agents in 85.79 seconds.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5F9FD"/>
                </a:solidFill>
                <a:latin typeface="Arial Rounded MT Bold"/>
              </a:rPr>
              <a:t>Known Limitations &amp; Engineering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These are explicit current constraints in the codebase—not claims that the prototype has already solved them.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2103120"/>
            <a:ext cx="8275320" cy="292608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" y="2377439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382011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359152"/>
            <a:ext cx="6903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C5FF"/>
                </a:solidFill>
                <a:latin typeface="Arial Rounded MT Bold"/>
              </a:rPr>
              <a:t>Static view of the system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3063239"/>
            <a:ext cx="7680960" cy="0"/>
          </a:xfrm>
          <a:prstGeom prst="line">
            <a:avLst/>
          </a:prstGeom>
          <a:ln w="8890">
            <a:solidFill>
              <a:srgbClr val="0D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3271" y="3310128"/>
            <a:ext cx="7571231" cy="1417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CADBE8"/>
                </a:solidFill>
                <a:latin typeface="Arial"/>
              </a:rPr>
              <a:t>ARCHON reads source and configuration but does not execute code. Runtime-only dependencies and dynamic service discovery may be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103120"/>
            <a:ext cx="8275320" cy="292608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37192" y="2377439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192" y="2382011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359152"/>
            <a:ext cx="6903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C5FF"/>
                </a:solidFill>
                <a:latin typeface="Arial Rounded MT Bold"/>
              </a:rPr>
              <a:t>Incomplete relationship coverage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73768" y="3063239"/>
            <a:ext cx="7680960" cy="0"/>
          </a:xfrm>
          <a:prstGeom prst="line">
            <a:avLst/>
          </a:prstGeom>
          <a:ln w="8890">
            <a:solidFill>
              <a:srgbClr val="0D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0" y="3310128"/>
            <a:ext cx="7571231" cy="1417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CADBE8"/>
                </a:solidFill>
                <a:latin typeface="Arial"/>
              </a:rPr>
              <a:t>The graph is built from parsed imports and explicit dependencies; it may not capture every call or runtime edge.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86400"/>
            <a:ext cx="8275320" cy="292608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5760720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5765292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5742432"/>
            <a:ext cx="6903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C5FF"/>
                </a:solidFill>
                <a:latin typeface="Arial Rounded MT Bold"/>
              </a:rPr>
              <a:t>Sparse historical evidence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6446520"/>
            <a:ext cx="7680960" cy="0"/>
          </a:xfrm>
          <a:prstGeom prst="line">
            <a:avLst/>
          </a:prstGeom>
          <a:ln w="8890">
            <a:solidFill>
              <a:srgbClr val="0D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33271" y="6693408"/>
            <a:ext cx="7571231" cy="1417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CADBE8"/>
                </a:solidFill>
                <a:latin typeface="Arial"/>
              </a:rPr>
              <a:t>Many repositories have no ADRs. GitHub pull-request and issue ingestion is still on the roadmap, so historical rationale can remain uncertain.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5486400"/>
            <a:ext cx="8275320" cy="2926080"/>
          </a:xfrm>
          <a:prstGeom prst="roundRect">
            <a:avLst/>
          </a:prstGeom>
          <a:solidFill>
            <a:srgbClr val="041726"/>
          </a:solidFill>
          <a:ln w="12700">
            <a:solidFill>
              <a:srgbClr val="006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37192" y="5760720"/>
            <a:ext cx="530352" cy="530352"/>
          </a:xfrm>
          <a:prstGeom prst="ellipse">
            <a:avLst/>
          </a:prstGeom>
          <a:solidFill>
            <a:srgbClr val="2281DB"/>
          </a:solidFill>
          <a:ln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7192" y="5765292"/>
            <a:ext cx="5303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9FD"/>
                </a:solidFill>
                <a:latin typeface="Arial Rounded MT 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5742432"/>
            <a:ext cx="6903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C5FF"/>
                </a:solidFill>
                <a:latin typeface="Arial Rounded MT Bold"/>
              </a:rPr>
              <a:t>Reasoning and scale limits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73768" y="6446520"/>
            <a:ext cx="7680960" cy="0"/>
          </a:xfrm>
          <a:prstGeom prst="line">
            <a:avLst/>
          </a:prstGeom>
          <a:ln w="8890">
            <a:solidFill>
              <a:srgbClr val="0D4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01200" y="6693408"/>
            <a:ext cx="7571231" cy="1417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CADBE8"/>
                </a:solidFill>
                <a:latin typeface="Arial"/>
              </a:rPr>
              <a:t>Agents currently run sequentially. Evidence is truncated to fit prompt budgets (~3,000 characters per agent); prompts are English-only.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8833104"/>
            <a:ext cx="1636775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D669"/>
                </a:solidFill>
                <a:latin typeface="Arial Rounded MT Bold"/>
              </a:rPr>
              <a:t>Implication: confidence must be interpreted alongside evidence completeness and stated uncertainties.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20040"/>
            <a:ext cx="1709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5F9FD"/>
                </a:solidFill>
                <a:latin typeface="Arial Rounded MT Bold"/>
              </a:rPr>
              <a:t>Next Phase: Evaluate Knowledge-Base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691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8E3DD"/>
                </a:solidFill>
                <a:latin typeface="Arial"/>
              </a:rPr>
              <a:t>Proposed evaluation plan—not yet completed. First validate the evidence base; then assess downstream reasoning.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719072"/>
            <a:ext cx="16943832" cy="0"/>
          </a:xfrm>
          <a:prstGeom prst="line">
            <a:avLst/>
          </a:prstGeom>
          <a:ln w="12700">
            <a:solidFill>
              <a:srgbClr val="0E6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2057400"/>
            <a:ext cx="5440680" cy="214884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58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C5FF"/>
                </a:solidFill>
                <a:latin typeface="Arial Rounded MT Bold"/>
              </a:rPr>
              <a:t>1  Ingestion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62072"/>
            <a:ext cx="4983480" cy="11887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CADBE8"/>
                </a:solidFill>
                <a:latin typeface="Arial"/>
              </a:rPr>
              <a:t>Compare expected repository artifacts with indexed files, symbols, dependency manifests, commits and ADRs.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2057400"/>
            <a:ext cx="5440680" cy="214884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7688" y="2258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C5FF"/>
                </a:solidFill>
                <a:latin typeface="Arial Rounded MT Bold"/>
              </a:rPr>
              <a:t>2  Graph correctness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862072"/>
            <a:ext cx="4983480" cy="11887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CADBE8"/>
                </a:solidFill>
                <a:latin typeface="Arial"/>
              </a:rPr>
              <a:t>Manually label a sample of nodes and edges; measure precision / recall for extracted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79808" y="2057400"/>
            <a:ext cx="5440680" cy="214884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08408" y="2258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C5FF"/>
                </a:solidFill>
                <a:latin typeface="Arial Rounded MT Bold"/>
              </a:rPr>
              <a:t>3  Semantic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08408" y="2862072"/>
            <a:ext cx="4983480" cy="11887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CADBE8"/>
                </a:solidFill>
                <a:latin typeface="Arial"/>
              </a:rPr>
              <a:t>Create query–evidence relevance labels and report Precision@k, Recall@k and MRR for Qdrant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4498848"/>
            <a:ext cx="6720840" cy="205740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4700016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C5FF"/>
                </a:solidFill>
                <a:latin typeface="Arial Rounded MT Bold"/>
              </a:rPr>
              <a:t>4  Update 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303520"/>
            <a:ext cx="6263640" cy="10972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CADBE8"/>
                </a:solidFill>
                <a:latin typeface="Arial"/>
              </a:rPr>
              <a:t>Add, edit and delete files; verify that the manifest, graph and vectors reflect repository changes correctly.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498848"/>
            <a:ext cx="6720840" cy="2057400"/>
          </a:xfrm>
          <a:prstGeom prst="roundRect">
            <a:avLst/>
          </a:prstGeom>
          <a:solidFill>
            <a:srgbClr val="041726"/>
          </a:solidFill>
          <a:ln w="11430">
            <a:solidFill>
              <a:srgbClr val="00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4700016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C5FF"/>
                </a:solidFill>
                <a:latin typeface="Arial Rounded MT Bold"/>
              </a:rPr>
              <a:t>5  Provenance &amp;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5303520"/>
            <a:ext cx="6263640" cy="10972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CADBE8"/>
                </a:solidFill>
                <a:latin typeface="Arial"/>
              </a:rPr>
              <a:t>Check that returned evidence points to the correct file / line range; measure ingestion and search latency.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6949440"/>
            <a:ext cx="16962120" cy="2194560"/>
          </a:xfrm>
          <a:prstGeom prst="roundRect">
            <a:avLst/>
          </a:prstGeom>
          <a:solidFill>
            <a:srgbClr val="031220"/>
          </a:solidFill>
          <a:ln w="12700">
            <a:solidFill>
              <a:srgbClr val="00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7150608"/>
            <a:ext cx="1627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C5FF"/>
                </a:solidFill>
                <a:latin typeface="Arial Rounded MT Bold"/>
              </a:rPr>
              <a:t>Immediate engineering priorities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7754112"/>
            <a:ext cx="16322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5F9FD"/>
                </a:solidFill>
                <a:latin typeface="Arial"/>
              </a:rPr>
              <a:t>Build an annotated query/evidence set   →   test changed-file re-indexing   →   add GitHub PR/issue ingestion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5F9FD"/>
                </a:solidFill>
                <a:latin typeface="Arial"/>
              </a:rPr>
              <a:t>Then calibrate confidence and investigate parallel execution to reduce latency.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9738360"/>
            <a:ext cx="16943832" cy="0"/>
          </a:xfrm>
          <a:prstGeom prst="line">
            <a:avLst/>
          </a:prstGeom>
          <a:ln w="7620">
            <a:solidFill>
              <a:srgbClr val="0F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983894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6A5BB"/>
                </a:solidFill>
                <a:latin typeface="Arial"/>
              </a:rPr>
              <a:t>ARCHON  •  EVALUATION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0" y="98115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5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9718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F5F9FD"/>
                </a:solidFill>
                <a:latin typeface="Arial Rounded MT Bold"/>
              </a:rPr>
              <a:t>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0" y="4709160"/>
            <a:ext cx="5486400" cy="0"/>
          </a:xfrm>
          <a:prstGeom prst="line">
            <a:avLst/>
          </a:prstGeom>
          <a:ln w="19050">
            <a:solidFill>
              <a:srgbClr val="00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49039" y="507492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8E3DD"/>
                </a:solidFill>
                <a:latin typeface="Arial Rounded MT Bold"/>
              </a:rPr>
              <a:t>ARCHON  •  Agentic Change-Impact Analysis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58064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ADBE8"/>
                </a:solidFill>
                <a:latin typeface="Arial"/>
              </a:rPr>
              <a:t>Evidence-first architectural reasoning for software change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040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D669"/>
                </a:solidFill>
                <a:latin typeface="Arial"/>
              </a:rPr>
              <a:t>GitHub: Anand-Ramdas-Kale/fyp  •  ARCHON1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ARCHON — Final Year Project Evaluation 2</dc:title>
  <dc:subject>Implementation progress, architecture, validation and next steps</dc:subject>
  <dc:creator>ARCHON FYP Team</dc:creator>
  <cp:keywords>ARCHON, agentic AI, architecture, change-impact analysis, Neo4j, Qdrant, LangGraph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